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0" r:id="rId6"/>
  </p:sldIdLst>
  <p:sldSz cx="12192000" cy="7620000"/>
  <p:notesSz cx="6858000" cy="9144000"/>
  <p:defaultText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8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our proposed desktop device. It combines essential daily information with an E-Ink display. The image is an imagined design, not a photograph of an existing prototype. Team members: Ding Han, project manager, Dong Nguyen, Yiming Chen, Hossam Ragab and Kyrylo Luhinin.</a:t>
            </a:r>
          </a:p>
          <a:p>
            <a:endParaRPr/>
          </a:p>
          <a:p>
            <a:r>
              <a:t>Source: supplied design-report.md and group manager’s five-section structure. Product image and paper background are AI-generated concept illustrations. Features describe a proposal, not verified prototype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Checking weather or a task on a phone can lead to scrolling. Information is also spread across apps. This project explores a quiet desktop alternative. At a glance means seeing information without opening another device. Low power means the screen retains the image between updates while the controller sleeps. Ambient means the device stays useful without demanding attention. Reducing screen use is a goal, not a measured result.</a:t>
            </a:r>
          </a:p>
          <a:p>
            <a:endParaRPr/>
          </a:p>
          <a:p>
            <a:r>
              <a:t>Source: supplied design-report.md and group manager’s five-section structure. Product image and paper background are AI-generated concept illustrations. Features describe a proposal, not verified prototype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Core functions show time and date, weather, indoor temperature and humidity, calendar events, tasks and habit reminders. Wi-Fi enables HTTPS and JSON API requests. Web setup supports configuration, OTA supports firmware updates and battery status stays visible. ESP32 is the working controller assumption. It wakes, reads sensors and APIs, renders a 1-bit frame, updates E-Ink and returns to sleep. The screen shows snapshots between updates. The report also lists Raspberry Pi hardware, so controller and driver selection remain open. A backend may handle OAuth and artwork conversion. Air quality and Spotify are optional. Privacy, cost, reliability and readability are requirements.</a:t>
            </a:r>
          </a:p>
          <a:p>
            <a:endParaRPr/>
          </a:p>
          <a:p>
            <a:r>
              <a:t>Source: supplied design-report.md and group manager’s five-section structure. Product image and paper background are AI-generated concept illustrations. Features describe a proposal, not verified prototype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hardware includes an ESP32, a monochrome E-Ink display, a temperature and humidity sensor, a rotary encoder and a Li-Po power system inside a 3D-printed enclosure. The report offers ESP32-S3 or C6 and 5.83-inch or 7.5-inch displays. Software uses Arduino or ESP-IDF, GxEPD2, Adafruit GFX and JSON parsing. The screen has a status header, content area and footer for the next event or hint. Dashboard, Calendar and Environment are main modes. Spotify is optional. Rotate switches modes, press refreshes data and long press starts configuration. The web portal manages location, API settings, refresh interval and preferences. Confirm controller, display size and compatible driver. The Pi Bonnet is a Pi-specific alternative.</a:t>
            </a:r>
          </a:p>
          <a:p>
            <a:endParaRPr/>
          </a:p>
          <a:p>
            <a:r>
              <a:t>Source: supplied design-report.md and group manager’s five-section structure. Product image and paper background are AI-generated concept illustrations. Features describe a proposal, not verified prototype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central product goal: useful daily information on a quiet, always-visible desk device. The next proposed steps are to confirm the hardware, integrate the core dashboard and test refresh behavior and power consumption. The report has no measured battery-life or performance figures. Invite questions.</a:t>
            </a:r>
          </a:p>
          <a:p>
            <a:endParaRPr/>
          </a:p>
          <a:p>
            <a:r>
              <a:t>Source: supplied design-report.md and group manager’s five-section structure. Product image and paper background are AI-generated concept illustrations. Features describe a proposal, not verified prototype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22B57881-A2D5-4A64-A471-A94DDCCF926E}"/>
              </a:ext>
            </a:extLst>
          </p:cNvPr>
          <p:cNvSpPr>
            <a:spLocks noGrp="1"/>
          </p:cNvSpPr>
          <p:nvPr/>
        </p:nvSpPr>
        <p:spPr>
          <a:xfrm>
            <a:off x="5791200" y="2455333"/>
            <a:ext cx="609600" cy="42333"/>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5A15F0E0-3019-438E-B7B5-A485073F8741}"/>
              </a:ext>
            </a:extLst>
          </p:cNvPr>
          <p:cNvSpPr>
            <a:spLocks noGrp="1"/>
          </p:cNvSpPr>
          <p:nvPr>
            <p:ph type="title"/>
          </p:nvPr>
        </p:nvSpPr>
        <p:spPr>
          <a:xfrm>
            <a:off x="1219200" y="2878667"/>
            <a:ext cx="9753600" cy="1100667"/>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AC335E90-2573-4585-881E-3B3A8696BB01}"/>
              </a:ext>
            </a:extLst>
          </p:cNvPr>
          <p:cNvSpPr>
            <a:spLocks noGrp="1"/>
          </p:cNvSpPr>
          <p:nvPr>
            <p:ph type="subTitle" idx="1"/>
          </p:nvPr>
        </p:nvSpPr>
        <p:spPr>
          <a:xfrm>
            <a:off x="1828800" y="4191000"/>
            <a:ext cx="8534400" cy="846667"/>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F2C5713E-76AD-4FB0-B61C-429D10EE4890}"/>
              </a:ext>
            </a:extLst>
          </p:cNvPr>
          <p:cNvSpPr>
            <a:spLocks noGrp="1"/>
          </p:cNvSpPr>
          <p:nvPr/>
        </p:nvSpPr>
        <p:spPr>
          <a:xfrm>
            <a:off x="5791200" y="2751667"/>
            <a:ext cx="609600" cy="42333"/>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35D932AE-0A2F-4B28-828A-822AD7B72075}"/>
              </a:ext>
            </a:extLst>
          </p:cNvPr>
          <p:cNvSpPr>
            <a:spLocks noGrp="1"/>
          </p:cNvSpPr>
          <p:nvPr>
            <p:ph type="title"/>
          </p:nvPr>
        </p:nvSpPr>
        <p:spPr>
          <a:xfrm>
            <a:off x="1219200" y="3175000"/>
            <a:ext cx="9753600" cy="1270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BF1B17FD-BC23-4BBB-BE5D-FC30886E183C}"/>
              </a:ext>
            </a:extLst>
          </p:cNvPr>
          <p:cNvSpPr>
            <a:spLocks noGrp="1"/>
          </p:cNvSpPr>
          <p:nvPr/>
        </p:nvSpPr>
        <p:spPr>
          <a:xfrm>
            <a:off x="685800" y="1693333"/>
            <a:ext cx="609600" cy="42333"/>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8E450A6A-3D38-4ABB-8320-1E4E58FC3ED5}"/>
              </a:ext>
            </a:extLst>
          </p:cNvPr>
          <p:cNvSpPr>
            <a:spLocks noGrp="1"/>
          </p:cNvSpPr>
          <p:nvPr>
            <p:ph type="title"/>
          </p:nvPr>
        </p:nvSpPr>
        <p:spPr>
          <a:xfrm>
            <a:off x="685800" y="592667"/>
            <a:ext cx="10820400" cy="931333"/>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B04E137F-C775-4129-AF8A-DF2A6DBB2F1B}"/>
              </a:ext>
            </a:extLst>
          </p:cNvPr>
          <p:cNvSpPr>
            <a:spLocks noGrp="1"/>
          </p:cNvSpPr>
          <p:nvPr>
            <p:ph type="body" idx="1"/>
          </p:nvPr>
        </p:nvSpPr>
        <p:spPr>
          <a:xfrm>
            <a:off x="685800" y="2116667"/>
            <a:ext cx="10820400" cy="4741333"/>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02CE116E-1BFB-44BE-87E1-26E467173B8B}"/>
              </a:ext>
            </a:extLst>
          </p:cNvPr>
          <p:cNvSpPr>
            <a:spLocks noGrp="1"/>
          </p:cNvSpPr>
          <p:nvPr/>
        </p:nvSpPr>
        <p:spPr>
          <a:xfrm>
            <a:off x="685800" y="1693333"/>
            <a:ext cx="609600" cy="42333"/>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C2A58B3E-A72A-4E2B-BCD2-C52EBB63088E}"/>
              </a:ext>
            </a:extLst>
          </p:cNvPr>
          <p:cNvSpPr>
            <a:spLocks noGrp="1"/>
          </p:cNvSpPr>
          <p:nvPr>
            <p:ph type="title"/>
          </p:nvPr>
        </p:nvSpPr>
        <p:spPr>
          <a:xfrm>
            <a:off x="685800" y="592667"/>
            <a:ext cx="10820400" cy="931333"/>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DFD86ADF-D659-432C-B203-F54F40FAD135}"/>
              </a:ext>
            </a:extLst>
          </p:cNvPr>
          <p:cNvSpPr>
            <a:spLocks noGrp="1"/>
          </p:cNvSpPr>
          <p:nvPr>
            <p:ph type="body" idx="1"/>
          </p:nvPr>
        </p:nvSpPr>
        <p:spPr>
          <a:xfrm>
            <a:off x="685800" y="2116667"/>
            <a:ext cx="5029200" cy="4741333"/>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6D69BD20-D872-4A52-A716-8BCAD686DB09}"/>
              </a:ext>
            </a:extLst>
          </p:cNvPr>
          <p:cNvSpPr>
            <a:spLocks noGrp="1"/>
          </p:cNvSpPr>
          <p:nvPr>
            <p:ph type="body" idx="2"/>
          </p:nvPr>
        </p:nvSpPr>
        <p:spPr>
          <a:xfrm>
            <a:off x="6477000" y="2116667"/>
            <a:ext cx="5029200" cy="4741333"/>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46ABB57A-F8A6-4F77-9551-8A1E92EC450C}"/>
              </a:ext>
            </a:extLst>
          </p:cNvPr>
          <p:cNvSpPr>
            <a:spLocks noGrp="1"/>
          </p:cNvSpPr>
          <p:nvPr/>
        </p:nvSpPr>
        <p:spPr>
          <a:xfrm>
            <a:off x="685800" y="1693333"/>
            <a:ext cx="609600" cy="42333"/>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FE9DFE54-8643-47E7-B060-5481565C4212}"/>
              </a:ext>
            </a:extLst>
          </p:cNvPr>
          <p:cNvSpPr>
            <a:spLocks noGrp="1"/>
          </p:cNvSpPr>
          <p:nvPr>
            <p:ph type="title"/>
          </p:nvPr>
        </p:nvSpPr>
        <p:spPr>
          <a:xfrm>
            <a:off x="685800" y="592667"/>
            <a:ext cx="10820400" cy="931333"/>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5A907617-349B-4FC4-ACB2-442D5A5D002D}"/>
              </a:ext>
            </a:extLst>
          </p:cNvPr>
          <p:cNvSpPr>
            <a:spLocks noGrp="1"/>
          </p:cNvSpPr>
          <p:nvPr>
            <p:ph type="body" idx="1"/>
          </p:nvPr>
        </p:nvSpPr>
        <p:spPr>
          <a:xfrm>
            <a:off x="685800" y="2116667"/>
            <a:ext cx="5029200" cy="4741333"/>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t="38" b="38"/>
          <a:stretch>
            <a:fillRect/>
          </a:stretch>
        </p:blipFill>
        <p:spPr>
          <a:xfrm>
            <a:off x="0" y="0"/>
            <a:ext cx="12192000" cy="7620000"/>
          </a:xfrm>
          <a:prstGeom prst="rect">
            <a:avLst/>
          </a:prstGeom>
        </p:spPr>
      </p:pic>
      <p:sp>
        <p:nvSpPr>
          <p:cNvPr id="2" name="Rectangle 1">
            <a:extLst>
              <a:ext uri="{FF2B5EF4-FFF2-40B4-BE49-F238E27FC236}">
                <a16:creationId xmlns:a16="http://schemas.microsoft.com/office/drawing/2014/main" id="{D41AA449-075F-4E7F-BDF2-17EE39243416}"/>
              </a:ext>
            </a:extLst>
          </p:cNvPr>
          <p:cNvSpPr>
            <a:spLocks noGrp="1"/>
          </p:cNvSpPr>
          <p:nvPr/>
        </p:nvSpPr>
        <p:spPr>
          <a:xfrm>
            <a:off x="723900" y="571500"/>
            <a:ext cx="10668000" cy="333375"/>
          </a:xfrm>
          <a:prstGeom prst="rect">
            <a:avLst/>
          </a:prstGeom>
          <a:noFill/>
          <a:ln w="0">
            <a:noFill/>
          </a:ln>
        </p:spPr>
        <p:txBody>
          <a:bodyPr>
            <a:noAutofit/>
          </a:bodyPr>
          <a:lstStyle/>
          <a:p>
            <a:pPr>
              <a:defRPr sz="1275" b="1">
                <a:solidFill>
                  <a:srgbClr val="5A5A5A"/>
                </a:solidFill>
                <a:latin typeface="DejaVu Sans"/>
                <a:ea typeface="DejaVu Sans"/>
                <a:cs typeface="DejaVu Sans"/>
              </a:defRPr>
            </a:pPr>
            <a:r>
              <a:rPr sz="1275" b="1">
                <a:solidFill>
                  <a:srgbClr val="5A5A5A"/>
                </a:solidFill>
                <a:latin typeface="DejaVu Sans"/>
                <a:ea typeface="DejaVu Sans"/>
                <a:cs typeface="DejaVu Sans"/>
              </a:rPr>
              <a:t>TEAM 2 / IOT PROJECT</a:t>
            </a:r>
          </a:p>
        </p:txBody>
      </p:sp>
      <p:sp>
        <p:nvSpPr>
          <p:cNvPr id="3" name="Rectangle 2">
            <a:extLst>
              <a:ext uri="{FF2B5EF4-FFF2-40B4-BE49-F238E27FC236}">
                <a16:creationId xmlns:a16="http://schemas.microsoft.com/office/drawing/2014/main" id="{4DE38EA4-A1D4-4674-9A2A-452DDAB1D76A}"/>
              </a:ext>
            </a:extLst>
          </p:cNvPr>
          <p:cNvSpPr>
            <a:spLocks noGrp="1"/>
          </p:cNvSpPr>
          <p:nvPr/>
        </p:nvSpPr>
        <p:spPr>
          <a:xfrm>
            <a:off x="723900" y="1581150"/>
            <a:ext cx="4286250" cy="1714500"/>
          </a:xfrm>
          <a:prstGeom prst="rect">
            <a:avLst/>
          </a:prstGeom>
          <a:noFill/>
          <a:ln w="0">
            <a:noFill/>
          </a:ln>
        </p:spPr>
        <p:txBody>
          <a:bodyPr>
            <a:noAutofit/>
          </a:bodyPr>
          <a:lstStyle/>
          <a:p>
            <a:pPr>
              <a:defRPr sz="3300" b="1">
                <a:solidFill>
                  <a:srgbClr val="222222"/>
                </a:solidFill>
                <a:latin typeface="DejaVu Sans"/>
                <a:ea typeface="DejaVu Sans"/>
                <a:cs typeface="DejaVu Sans"/>
              </a:defRPr>
            </a:pPr>
            <a:r>
              <a:rPr sz="3300" b="1">
                <a:solidFill>
                  <a:srgbClr val="222222"/>
                </a:solidFill>
                <a:latin typeface="DejaVu Sans"/>
                <a:ea typeface="DejaVu Sans"/>
                <a:cs typeface="DejaVu Sans"/>
              </a:rPr>
              <a:t>Ambient E-Ink</a:t>
            </a:r>
          </a:p>
          <a:p>
            <a:pPr>
              <a:defRPr sz="3300" b="1">
                <a:solidFill>
                  <a:srgbClr val="222222"/>
                </a:solidFill>
                <a:latin typeface="DejaVu Sans"/>
                <a:ea typeface="DejaVu Sans"/>
                <a:cs typeface="DejaVu Sans"/>
              </a:defRPr>
            </a:pPr>
            <a:r>
              <a:rPr sz="3300" b="1">
                <a:solidFill>
                  <a:srgbClr val="222222"/>
                </a:solidFill>
                <a:latin typeface="DejaVu Sans"/>
                <a:ea typeface="DejaVu Sans"/>
                <a:cs typeface="DejaVu Sans"/>
              </a:rPr>
              <a:t>Desk Companion</a:t>
            </a:r>
          </a:p>
        </p:txBody>
      </p:sp>
      <p:sp>
        <p:nvSpPr>
          <p:cNvPr id="4" name="Rectangle 3">
            <a:extLst>
              <a:ext uri="{FF2B5EF4-FFF2-40B4-BE49-F238E27FC236}">
                <a16:creationId xmlns:a16="http://schemas.microsoft.com/office/drawing/2014/main" id="{D53E7F59-CDC1-49A8-AF02-CFF9D1B090BF}"/>
              </a:ext>
            </a:extLst>
          </p:cNvPr>
          <p:cNvSpPr>
            <a:spLocks noGrp="1"/>
          </p:cNvSpPr>
          <p:nvPr/>
        </p:nvSpPr>
        <p:spPr>
          <a:xfrm>
            <a:off x="11029950" y="6991350"/>
            <a:ext cx="476250" cy="266700"/>
          </a:xfrm>
          <a:prstGeom prst="rect">
            <a:avLst/>
          </a:prstGeom>
          <a:noFill/>
          <a:ln w="0">
            <a:noFill/>
          </a:ln>
        </p:spPr>
        <p:txBody>
          <a:bodyPr>
            <a:noAutofit/>
          </a:bodyPr>
          <a:lstStyle/>
          <a:p>
            <a:pPr>
              <a:defRPr sz="1350" b="0">
                <a:solidFill>
                  <a:srgbClr val="666666"/>
                </a:solidFill>
                <a:latin typeface="DejaVu Sans"/>
                <a:ea typeface="DejaVu Sans"/>
                <a:cs typeface="DejaVu Sans"/>
              </a:defRPr>
            </a:pPr>
            <a:r>
              <a:rPr sz="1350" b="0">
                <a:solidFill>
                  <a:srgbClr val="666666"/>
                </a:solidFill>
                <a:latin typeface="DejaVu Sans"/>
                <a:ea typeface="DejaVu Sans"/>
                <a:cs typeface="DejaVu Sans"/>
              </a:rPr>
              <a:t>01</a:t>
            </a:r>
          </a:p>
        </p:txBody>
      </p:sp>
      <p:sp>
        <p:nvSpPr>
          <p:cNvPr id="5" name="Rectangle 4">
            <a:extLst>
              <a:ext uri="{FF2B5EF4-FFF2-40B4-BE49-F238E27FC236}">
                <a16:creationId xmlns:a16="http://schemas.microsoft.com/office/drawing/2014/main" id="{AC8371C6-CCA5-4493-B97B-5AC4D79B28CF}"/>
              </a:ext>
            </a:extLst>
          </p:cNvPr>
          <p:cNvSpPr>
            <a:spLocks noGrp="1"/>
          </p:cNvSpPr>
          <p:nvPr/>
        </p:nvSpPr>
        <p:spPr>
          <a:xfrm>
            <a:off x="723900" y="3638550"/>
            <a:ext cx="3810000" cy="952500"/>
          </a:xfrm>
          <a:prstGeom prst="rect">
            <a:avLst/>
          </a:prstGeom>
          <a:noFill/>
          <a:ln w="0">
            <a:noFill/>
          </a:ln>
        </p:spPr>
        <p:txBody>
          <a:bodyPr>
            <a:noAutofit/>
          </a:bodyPr>
          <a:lstStyle/>
          <a:p>
            <a:pPr>
              <a:defRPr sz="2175" b="0">
                <a:solidFill>
                  <a:srgbClr val="555555"/>
                </a:solidFill>
                <a:latin typeface="DejaVu Sans"/>
                <a:ea typeface="DejaVu Sans"/>
                <a:cs typeface="DejaVu Sans"/>
              </a:defRPr>
            </a:pPr>
            <a:r>
              <a:rPr sz="2175" b="0">
                <a:solidFill>
                  <a:srgbClr val="555555"/>
                </a:solidFill>
                <a:latin typeface="DejaVu Sans"/>
                <a:ea typeface="DejaVu Sans"/>
                <a:cs typeface="DejaVu Sans"/>
              </a:rPr>
              <a:t>Essential information</a:t>
            </a:r>
          </a:p>
          <a:p>
            <a:pPr>
              <a:defRPr sz="2175" b="0">
                <a:solidFill>
                  <a:srgbClr val="555555"/>
                </a:solidFill>
                <a:latin typeface="DejaVu Sans"/>
                <a:ea typeface="DejaVu Sans"/>
                <a:cs typeface="DejaVu Sans"/>
              </a:defRPr>
            </a:pPr>
            <a:r>
              <a:rPr sz="2175" b="0">
                <a:solidFill>
                  <a:srgbClr val="555555"/>
                </a:solidFill>
                <a:latin typeface="DejaVu Sans"/>
                <a:ea typeface="DejaVu Sans"/>
                <a:cs typeface="DejaVu Sans"/>
              </a:rPr>
              <a:t>at a glance</a:t>
            </a:r>
          </a:p>
        </p:txBody>
      </p:sp>
      <p:pic>
        <p:nvPicPr>
          <p:cNvPr id="14" name="Picture 13"/>
          <p:cNvPicPr>
            <a:picLocks noChangeAspect="1"/>
          </p:cNvPicPr>
          <p:nvPr/>
        </p:nvPicPr>
        <p:blipFill>
          <a:blip r:embed="rId4"/>
          <a:stretch/>
        </p:blipFill>
        <p:spPr>
          <a:xfrm>
            <a:off x="5105400" y="1738601"/>
            <a:ext cx="6334125" cy="3961823"/>
          </a:xfrm>
          <a:prstGeom prst="rect">
            <a:avLst/>
          </a:prstGeom>
        </p:spPr>
      </p:pic>
      <p:sp>
        <p:nvSpPr>
          <p:cNvPr id="7" name="Rectangle 6">
            <a:extLst>
              <a:ext uri="{FF2B5EF4-FFF2-40B4-BE49-F238E27FC236}">
                <a16:creationId xmlns:a16="http://schemas.microsoft.com/office/drawing/2014/main" id="{0533C9B8-5220-4E3E-85B0-FED875F3E270}"/>
              </a:ext>
            </a:extLst>
          </p:cNvPr>
          <p:cNvSpPr>
            <a:spLocks noGrp="1"/>
          </p:cNvSpPr>
          <p:nvPr/>
        </p:nvSpPr>
        <p:spPr>
          <a:xfrm>
            <a:off x="5238750" y="5895975"/>
            <a:ext cx="6191250" cy="304800"/>
          </a:xfrm>
          <a:prstGeom prst="rect">
            <a:avLst/>
          </a:prstGeom>
          <a:noFill/>
          <a:ln w="0">
            <a:noFill/>
          </a:ln>
        </p:spPr>
        <p:txBody>
          <a:bodyPr>
            <a:noAutofit/>
          </a:bodyPr>
          <a:lstStyle/>
          <a:p>
            <a:pPr>
              <a:defRPr sz="1275" b="0">
                <a:solidFill>
                  <a:srgbClr val="666666"/>
                </a:solidFill>
                <a:latin typeface="DejaVu Sans"/>
                <a:ea typeface="DejaVu Sans"/>
                <a:cs typeface="DejaVu Sans"/>
              </a:defRPr>
            </a:pPr>
            <a:r>
              <a:rPr sz="1275" b="0">
                <a:solidFill>
                  <a:srgbClr val="666666"/>
                </a:solidFill>
                <a:latin typeface="DejaVu Sans"/>
                <a:ea typeface="DejaVu Sans"/>
                <a:cs typeface="DejaVu Sans"/>
              </a:rPr>
              <a:t>Concept visualization</a:t>
            </a:r>
          </a:p>
        </p:txBody>
      </p:sp>
      <p:sp>
        <p:nvSpPr>
          <p:cNvPr id="8" name="Rectangle 7">
            <a:extLst>
              <a:ext uri="{FF2B5EF4-FFF2-40B4-BE49-F238E27FC236}">
                <a16:creationId xmlns:a16="http://schemas.microsoft.com/office/drawing/2014/main" id="{7D9D2FF4-56A9-4421-9579-72B64497F2EF}"/>
              </a:ext>
            </a:extLst>
          </p:cNvPr>
          <p:cNvSpPr>
            <a:spLocks noGrp="1"/>
          </p:cNvSpPr>
          <p:nvPr/>
        </p:nvSpPr>
        <p:spPr>
          <a:xfrm>
            <a:off x="723900" y="6467475"/>
            <a:ext cx="10001250" cy="552450"/>
          </a:xfrm>
          <a:prstGeom prst="rect">
            <a:avLst/>
          </a:prstGeom>
          <a:noFill/>
          <a:ln w="0">
            <a:noFill/>
          </a:ln>
        </p:spPr>
        <p:txBody>
          <a:bodyPr>
            <a:noAutofit/>
          </a:bodyPr>
          <a:lstStyle/>
          <a:p>
            <a:pPr>
              <a:defRPr sz="1425" b="0">
                <a:solidFill>
                  <a:srgbClr val="555555"/>
                </a:solidFill>
                <a:latin typeface="DejaVu Sans"/>
                <a:ea typeface="DejaVu Sans"/>
                <a:cs typeface="DejaVu Sans"/>
              </a:defRPr>
            </a:pPr>
            <a:r>
              <a:rPr sz="1425" b="0">
                <a:solidFill>
                  <a:srgbClr val="555555"/>
                </a:solidFill>
                <a:latin typeface="DejaVu Sans"/>
                <a:ea typeface="DejaVu Sans"/>
                <a:cs typeface="DejaVu Sans"/>
              </a:rPr>
              <a:t>Ding Han (Project Manager), Dong Nguyen, Yiming Chen,</a:t>
            </a:r>
          </a:p>
          <a:p>
            <a:pPr>
              <a:defRPr sz="1425" b="0">
                <a:solidFill>
                  <a:srgbClr val="555555"/>
                </a:solidFill>
                <a:latin typeface="DejaVu Sans"/>
                <a:ea typeface="DejaVu Sans"/>
                <a:cs typeface="DejaVu Sans"/>
              </a:defRPr>
            </a:pPr>
            <a:r>
              <a:rPr sz="1425" b="0">
                <a:solidFill>
                  <a:srgbClr val="555555"/>
                </a:solidFill>
                <a:latin typeface="DejaVu Sans"/>
                <a:ea typeface="DejaVu Sans"/>
                <a:cs typeface="DejaVu Sans"/>
              </a:rPr>
              <a:t>Hossam Ragab, Kyrylo Luhinin</a:t>
            </a:r>
          </a:p>
        </p:txBody>
      </p:sp>
    </p:spTree>
    <p:extLst>
      <p:ext uri="{BB962C8B-B14F-4D97-AF65-F5344CB8AC3E}">
        <p14:creationId xmlns:p14="http://schemas.microsoft.com/office/powerpoint/2010/main" val="622387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rcRect t="38" b="38"/>
          <a:stretch>
            <a:fillRect/>
          </a:stretch>
        </p:blipFill>
        <p:spPr>
          <a:xfrm>
            <a:off x="0" y="0"/>
            <a:ext cx="12192000" cy="7620000"/>
          </a:xfrm>
          <a:prstGeom prst="rect">
            <a:avLst/>
          </a:prstGeom>
        </p:spPr>
      </p:pic>
      <p:sp>
        <p:nvSpPr>
          <p:cNvPr id="2" name="Rectangle 1">
            <a:extLst>
              <a:ext uri="{FF2B5EF4-FFF2-40B4-BE49-F238E27FC236}">
                <a16:creationId xmlns:a16="http://schemas.microsoft.com/office/drawing/2014/main" id="{EBEA83B7-DE02-412D-A56C-5097E5DD2DE3}"/>
              </a:ext>
            </a:extLst>
          </p:cNvPr>
          <p:cNvSpPr>
            <a:spLocks noGrp="1"/>
          </p:cNvSpPr>
          <p:nvPr/>
        </p:nvSpPr>
        <p:spPr>
          <a:xfrm>
            <a:off x="723900" y="571500"/>
            <a:ext cx="10668000" cy="333375"/>
          </a:xfrm>
          <a:prstGeom prst="rect">
            <a:avLst/>
          </a:prstGeom>
          <a:noFill/>
          <a:ln w="0">
            <a:noFill/>
          </a:ln>
        </p:spPr>
        <p:txBody>
          <a:bodyPr>
            <a:noAutofit/>
          </a:bodyPr>
          <a:lstStyle/>
          <a:p>
            <a:pPr>
              <a:defRPr sz="1275" b="1">
                <a:solidFill>
                  <a:srgbClr val="5A5A5A"/>
                </a:solidFill>
                <a:latin typeface="DejaVu Sans"/>
                <a:ea typeface="DejaVu Sans"/>
                <a:cs typeface="DejaVu Sans"/>
              </a:defRPr>
            </a:pPr>
            <a:r>
              <a:rPr sz="1275" b="1">
                <a:solidFill>
                  <a:srgbClr val="5A5A5A"/>
                </a:solidFill>
                <a:latin typeface="DejaVu Sans"/>
                <a:ea typeface="DejaVu Sans"/>
                <a:cs typeface="DejaVu Sans"/>
              </a:rPr>
              <a:t>1 / CONCEPT &amp; DESIGN GOALS</a:t>
            </a:r>
          </a:p>
        </p:txBody>
      </p:sp>
      <p:sp>
        <p:nvSpPr>
          <p:cNvPr id="3" name="Rectangle 2">
            <a:extLst>
              <a:ext uri="{FF2B5EF4-FFF2-40B4-BE49-F238E27FC236}">
                <a16:creationId xmlns:a16="http://schemas.microsoft.com/office/drawing/2014/main" id="{72268ECA-C123-4017-86EE-B141C041AF01}"/>
              </a:ext>
            </a:extLst>
          </p:cNvPr>
          <p:cNvSpPr>
            <a:spLocks noGrp="1"/>
          </p:cNvSpPr>
          <p:nvPr/>
        </p:nvSpPr>
        <p:spPr>
          <a:xfrm>
            <a:off x="723900" y="1200150"/>
            <a:ext cx="10763250" cy="1190625"/>
          </a:xfrm>
          <a:prstGeom prst="rect">
            <a:avLst/>
          </a:prstGeom>
          <a:noFill/>
          <a:ln w="0">
            <a:noFill/>
          </a:ln>
        </p:spPr>
        <p:txBody>
          <a:bodyPr>
            <a:noAutofit/>
          </a:bodyPr>
          <a:lstStyle/>
          <a:p>
            <a:pPr>
              <a:defRPr sz="3300" b="1">
                <a:solidFill>
                  <a:srgbClr val="222222"/>
                </a:solidFill>
                <a:latin typeface="DejaVu Sans"/>
                <a:ea typeface="DejaVu Sans"/>
                <a:cs typeface="DejaVu Sans"/>
              </a:defRPr>
            </a:pPr>
            <a:r>
              <a:rPr sz="3300" b="1">
                <a:solidFill>
                  <a:srgbClr val="222222"/>
                </a:solidFill>
                <a:latin typeface="DejaVu Sans"/>
                <a:ea typeface="DejaVu Sans"/>
                <a:cs typeface="DejaVu Sans"/>
              </a:rPr>
              <a:t>A quiet source of daily information</a:t>
            </a:r>
          </a:p>
        </p:txBody>
      </p:sp>
      <p:sp>
        <p:nvSpPr>
          <p:cNvPr id="4" name="Rectangle 3">
            <a:extLst>
              <a:ext uri="{FF2B5EF4-FFF2-40B4-BE49-F238E27FC236}">
                <a16:creationId xmlns:a16="http://schemas.microsoft.com/office/drawing/2014/main" id="{A6AFDDE2-B1EC-4E0D-9922-3750ACF109F9}"/>
              </a:ext>
            </a:extLst>
          </p:cNvPr>
          <p:cNvSpPr>
            <a:spLocks noGrp="1"/>
          </p:cNvSpPr>
          <p:nvPr/>
        </p:nvSpPr>
        <p:spPr>
          <a:xfrm>
            <a:off x="11029950" y="6991350"/>
            <a:ext cx="476250" cy="266700"/>
          </a:xfrm>
          <a:prstGeom prst="rect">
            <a:avLst/>
          </a:prstGeom>
          <a:noFill/>
          <a:ln w="0">
            <a:noFill/>
          </a:ln>
        </p:spPr>
        <p:txBody>
          <a:bodyPr>
            <a:noAutofit/>
          </a:bodyPr>
          <a:lstStyle/>
          <a:p>
            <a:pPr>
              <a:defRPr sz="1350" b="0">
                <a:solidFill>
                  <a:srgbClr val="666666"/>
                </a:solidFill>
                <a:latin typeface="DejaVu Sans"/>
                <a:ea typeface="DejaVu Sans"/>
                <a:cs typeface="DejaVu Sans"/>
              </a:defRPr>
            </a:pPr>
            <a:r>
              <a:rPr sz="1350" b="0">
                <a:solidFill>
                  <a:srgbClr val="666666"/>
                </a:solidFill>
                <a:latin typeface="DejaVu Sans"/>
                <a:ea typeface="DejaVu Sans"/>
                <a:cs typeface="DejaVu Sans"/>
              </a:rPr>
              <a:t>02</a:t>
            </a:r>
          </a:p>
        </p:txBody>
      </p:sp>
      <p:sp>
        <p:nvSpPr>
          <p:cNvPr id="5" name="Rectangle 4">
            <a:extLst>
              <a:ext uri="{FF2B5EF4-FFF2-40B4-BE49-F238E27FC236}">
                <a16:creationId xmlns:a16="http://schemas.microsoft.com/office/drawing/2014/main" id="{C6A62EDB-B2FE-4911-A6D6-BB60801016E5}"/>
              </a:ext>
            </a:extLst>
          </p:cNvPr>
          <p:cNvSpPr>
            <a:spLocks noGrp="1"/>
          </p:cNvSpPr>
          <p:nvPr/>
        </p:nvSpPr>
        <p:spPr>
          <a:xfrm>
            <a:off x="723900" y="2505075"/>
            <a:ext cx="10477500" cy="1047750"/>
          </a:xfrm>
          <a:prstGeom prst="rect">
            <a:avLst/>
          </a:prstGeom>
          <a:noFill/>
          <a:ln w="0">
            <a:noFill/>
          </a:ln>
        </p:spPr>
        <p:txBody>
          <a:bodyPr>
            <a:noAutofit/>
          </a:bodyPr>
          <a:lstStyle/>
          <a:p>
            <a:pPr>
              <a:defRPr sz="2250" b="0">
                <a:solidFill>
                  <a:srgbClr val="222222"/>
                </a:solidFill>
                <a:latin typeface="DejaVu Sans"/>
                <a:ea typeface="DejaVu Sans"/>
                <a:cs typeface="DejaVu Sans"/>
              </a:defRPr>
            </a:pPr>
            <a:r>
              <a:rPr sz="2250" b="0">
                <a:solidFill>
                  <a:srgbClr val="222222"/>
                </a:solidFill>
                <a:latin typeface="DejaVu Sans"/>
                <a:ea typeface="DejaVu Sans"/>
                <a:cs typeface="DejaVu Sans"/>
              </a:rPr>
              <a:t>A quick phone check can become a distraction.</a:t>
            </a:r>
          </a:p>
          <a:p>
            <a:pPr>
              <a:defRPr sz="2250" b="0">
                <a:solidFill>
                  <a:srgbClr val="222222"/>
                </a:solidFill>
                <a:latin typeface="DejaVu Sans"/>
                <a:ea typeface="DejaVu Sans"/>
                <a:cs typeface="DejaVu Sans"/>
              </a:defRPr>
            </a:pPr>
            <a:r>
              <a:rPr sz="2250" b="0">
                <a:solidFill>
                  <a:srgbClr val="222222"/>
                </a:solidFill>
                <a:latin typeface="DejaVu Sans"/>
                <a:ea typeface="DejaVu Sans"/>
                <a:cs typeface="DejaVu Sans"/>
              </a:rPr>
              <a:t>Our desk device keeps essentials visible in one place.</a:t>
            </a:r>
          </a:p>
        </p:txBody>
      </p:sp>
      <p:sp>
        <p:nvSpPr>
          <p:cNvPr id="6" name="Rectangle 5">
            <a:extLst>
              <a:ext uri="{FF2B5EF4-FFF2-40B4-BE49-F238E27FC236}">
                <a16:creationId xmlns:a16="http://schemas.microsoft.com/office/drawing/2014/main" id="{B1DD4511-DF1E-4F08-A068-6F680F5EDA63}"/>
              </a:ext>
            </a:extLst>
          </p:cNvPr>
          <p:cNvSpPr>
            <a:spLocks noGrp="1"/>
          </p:cNvSpPr>
          <p:nvPr/>
        </p:nvSpPr>
        <p:spPr>
          <a:xfrm>
            <a:off x="723900" y="3914775"/>
            <a:ext cx="2714625" cy="476250"/>
          </a:xfrm>
          <a:prstGeom prst="rect">
            <a:avLst/>
          </a:prstGeom>
          <a:noFill/>
          <a:ln w="0">
            <a:noFill/>
          </a:ln>
        </p:spPr>
        <p:txBody>
          <a:bodyPr>
            <a:noAutofit/>
          </a:bodyPr>
          <a:lstStyle/>
          <a:p>
            <a:pPr>
              <a:defRPr sz="2175" b="1">
                <a:solidFill>
                  <a:srgbClr val="222222"/>
                </a:solidFill>
                <a:latin typeface="DejaVu Sans"/>
                <a:ea typeface="DejaVu Sans"/>
                <a:cs typeface="DejaVu Sans"/>
              </a:defRPr>
            </a:pPr>
            <a:r>
              <a:rPr sz="2175" b="1">
                <a:solidFill>
                  <a:srgbClr val="222222"/>
                </a:solidFill>
                <a:latin typeface="DejaVu Sans"/>
                <a:ea typeface="DejaVu Sans"/>
                <a:cs typeface="DejaVu Sans"/>
              </a:rPr>
              <a:t>At a glance</a:t>
            </a:r>
          </a:p>
        </p:txBody>
      </p:sp>
      <p:sp>
        <p:nvSpPr>
          <p:cNvPr id="7" name="Rectangle 6">
            <a:extLst>
              <a:ext uri="{FF2B5EF4-FFF2-40B4-BE49-F238E27FC236}">
                <a16:creationId xmlns:a16="http://schemas.microsoft.com/office/drawing/2014/main" id="{F237A3F3-9087-48A4-84D3-6C4E3D8B7CB3}"/>
              </a:ext>
            </a:extLst>
          </p:cNvPr>
          <p:cNvSpPr>
            <a:spLocks noGrp="1"/>
          </p:cNvSpPr>
          <p:nvPr/>
        </p:nvSpPr>
        <p:spPr>
          <a:xfrm>
            <a:off x="3724275" y="3914775"/>
            <a:ext cx="7715250" cy="723900"/>
          </a:xfrm>
          <a:prstGeom prst="rect">
            <a:avLst/>
          </a:prstGeom>
          <a:noFill/>
          <a:ln w="0">
            <a:noFill/>
          </a:ln>
        </p:spPr>
        <p:txBody>
          <a:bodyPr>
            <a:noAutofit/>
          </a:bodyPr>
          <a:lstStyle/>
          <a:p>
            <a:pPr>
              <a:defRPr sz="2025" b="0">
                <a:solidFill>
                  <a:srgbClr val="222222"/>
                </a:solidFill>
                <a:latin typeface="DejaVu Sans"/>
                <a:ea typeface="DejaVu Sans"/>
                <a:cs typeface="DejaVu Sans"/>
              </a:defRPr>
            </a:pPr>
            <a:r>
              <a:rPr sz="2025" b="0">
                <a:solidFill>
                  <a:srgbClr val="222222"/>
                </a:solidFill>
                <a:latin typeface="DejaVu Sans"/>
                <a:ea typeface="DejaVu Sans"/>
                <a:cs typeface="DejaVu Sans"/>
              </a:rPr>
              <a:t>Weather, indoor conditions, calendar and tasks</a:t>
            </a:r>
          </a:p>
        </p:txBody>
      </p:sp>
      <p:sp>
        <p:nvSpPr>
          <p:cNvPr id="8" name="Rectangle 7">
            <a:extLst>
              <a:ext uri="{FF2B5EF4-FFF2-40B4-BE49-F238E27FC236}">
                <a16:creationId xmlns:a16="http://schemas.microsoft.com/office/drawing/2014/main" id="{8EAD3250-FB5D-4214-A87A-2C277B27BEAC}"/>
              </a:ext>
            </a:extLst>
          </p:cNvPr>
          <p:cNvSpPr>
            <a:spLocks noGrp="1"/>
          </p:cNvSpPr>
          <p:nvPr/>
        </p:nvSpPr>
        <p:spPr>
          <a:xfrm>
            <a:off x="723900" y="4819650"/>
            <a:ext cx="2714625" cy="476250"/>
          </a:xfrm>
          <a:prstGeom prst="rect">
            <a:avLst/>
          </a:prstGeom>
          <a:noFill/>
          <a:ln w="0">
            <a:noFill/>
          </a:ln>
        </p:spPr>
        <p:txBody>
          <a:bodyPr>
            <a:noAutofit/>
          </a:bodyPr>
          <a:lstStyle/>
          <a:p>
            <a:pPr>
              <a:defRPr sz="2175" b="1">
                <a:solidFill>
                  <a:srgbClr val="222222"/>
                </a:solidFill>
                <a:latin typeface="DejaVu Sans"/>
                <a:ea typeface="DejaVu Sans"/>
                <a:cs typeface="DejaVu Sans"/>
              </a:defRPr>
            </a:pPr>
            <a:r>
              <a:rPr sz="2175" b="1">
                <a:solidFill>
                  <a:srgbClr val="222222"/>
                </a:solidFill>
                <a:latin typeface="DejaVu Sans"/>
                <a:ea typeface="DejaVu Sans"/>
                <a:cs typeface="DejaVu Sans"/>
              </a:rPr>
              <a:t>Low power</a:t>
            </a:r>
          </a:p>
        </p:txBody>
      </p:sp>
      <p:sp>
        <p:nvSpPr>
          <p:cNvPr id="9" name="Rectangle 8">
            <a:extLst>
              <a:ext uri="{FF2B5EF4-FFF2-40B4-BE49-F238E27FC236}">
                <a16:creationId xmlns:a16="http://schemas.microsoft.com/office/drawing/2014/main" id="{D55A64D3-E40E-4418-8325-AEBC5A88EEB3}"/>
              </a:ext>
            </a:extLst>
          </p:cNvPr>
          <p:cNvSpPr>
            <a:spLocks noGrp="1"/>
          </p:cNvSpPr>
          <p:nvPr/>
        </p:nvSpPr>
        <p:spPr>
          <a:xfrm>
            <a:off x="3724275" y="4819650"/>
            <a:ext cx="7715250" cy="723900"/>
          </a:xfrm>
          <a:prstGeom prst="rect">
            <a:avLst/>
          </a:prstGeom>
          <a:noFill/>
          <a:ln w="0">
            <a:noFill/>
          </a:ln>
        </p:spPr>
        <p:txBody>
          <a:bodyPr>
            <a:noAutofit/>
          </a:bodyPr>
          <a:lstStyle/>
          <a:p>
            <a:pPr>
              <a:defRPr sz="2025" b="0">
                <a:solidFill>
                  <a:srgbClr val="222222"/>
                </a:solidFill>
                <a:latin typeface="DejaVu Sans"/>
                <a:ea typeface="DejaVu Sans"/>
                <a:cs typeface="DejaVu Sans"/>
              </a:defRPr>
            </a:pPr>
            <a:r>
              <a:rPr sz="2025" b="0">
                <a:solidFill>
                  <a:srgbClr val="222222"/>
                </a:solidFill>
                <a:latin typeface="DejaVu Sans"/>
                <a:ea typeface="DejaVu Sans"/>
                <a:cs typeface="DejaVu Sans"/>
              </a:rPr>
              <a:t>E-Ink retains the image while the controller sleeps</a:t>
            </a:r>
          </a:p>
        </p:txBody>
      </p:sp>
      <p:sp>
        <p:nvSpPr>
          <p:cNvPr id="10" name="Rectangle 9">
            <a:extLst>
              <a:ext uri="{FF2B5EF4-FFF2-40B4-BE49-F238E27FC236}">
                <a16:creationId xmlns:a16="http://schemas.microsoft.com/office/drawing/2014/main" id="{5E4134F9-AD76-47F3-B0F1-EB74EFE1CC5E}"/>
              </a:ext>
            </a:extLst>
          </p:cNvPr>
          <p:cNvSpPr>
            <a:spLocks noGrp="1"/>
          </p:cNvSpPr>
          <p:nvPr/>
        </p:nvSpPr>
        <p:spPr>
          <a:xfrm>
            <a:off x="723900" y="5724525"/>
            <a:ext cx="2714625" cy="476250"/>
          </a:xfrm>
          <a:prstGeom prst="rect">
            <a:avLst/>
          </a:prstGeom>
          <a:noFill/>
          <a:ln w="0">
            <a:noFill/>
          </a:ln>
        </p:spPr>
        <p:txBody>
          <a:bodyPr>
            <a:noAutofit/>
          </a:bodyPr>
          <a:lstStyle/>
          <a:p>
            <a:pPr>
              <a:defRPr sz="2175" b="1">
                <a:solidFill>
                  <a:srgbClr val="222222"/>
                </a:solidFill>
                <a:latin typeface="DejaVu Sans"/>
                <a:ea typeface="DejaVu Sans"/>
                <a:cs typeface="DejaVu Sans"/>
              </a:defRPr>
            </a:pPr>
            <a:r>
              <a:rPr sz="2175" b="1">
                <a:solidFill>
                  <a:srgbClr val="222222"/>
                </a:solidFill>
                <a:latin typeface="DejaVu Sans"/>
                <a:ea typeface="DejaVu Sans"/>
                <a:cs typeface="DejaVu Sans"/>
              </a:rPr>
              <a:t>Ambient</a:t>
            </a:r>
          </a:p>
        </p:txBody>
      </p:sp>
      <p:sp>
        <p:nvSpPr>
          <p:cNvPr id="11" name="Rectangle 10">
            <a:extLst>
              <a:ext uri="{FF2B5EF4-FFF2-40B4-BE49-F238E27FC236}">
                <a16:creationId xmlns:a16="http://schemas.microsoft.com/office/drawing/2014/main" id="{28DD07B8-A8B8-4174-9CD9-374C791FF434}"/>
              </a:ext>
            </a:extLst>
          </p:cNvPr>
          <p:cNvSpPr>
            <a:spLocks noGrp="1"/>
          </p:cNvSpPr>
          <p:nvPr/>
        </p:nvSpPr>
        <p:spPr>
          <a:xfrm>
            <a:off x="3724275" y="5724525"/>
            <a:ext cx="7715250" cy="723900"/>
          </a:xfrm>
          <a:prstGeom prst="rect">
            <a:avLst/>
          </a:prstGeom>
          <a:noFill/>
          <a:ln w="0">
            <a:noFill/>
          </a:ln>
        </p:spPr>
        <p:txBody>
          <a:bodyPr>
            <a:noAutofit/>
          </a:bodyPr>
          <a:lstStyle/>
          <a:p>
            <a:pPr>
              <a:defRPr sz="2025" b="0">
                <a:solidFill>
                  <a:srgbClr val="222222"/>
                </a:solidFill>
                <a:latin typeface="DejaVu Sans"/>
                <a:ea typeface="DejaVu Sans"/>
                <a:cs typeface="DejaVu Sans"/>
              </a:defRPr>
            </a:pPr>
            <a:r>
              <a:rPr sz="2025" b="0">
                <a:solidFill>
                  <a:srgbClr val="222222"/>
                </a:solidFill>
                <a:latin typeface="DejaVu Sans"/>
                <a:ea typeface="DejaVu Sans"/>
                <a:cs typeface="DejaVu Sans"/>
              </a:rPr>
              <a:t>Calm updates without sounds or blinking notifications</a:t>
            </a:r>
          </a:p>
        </p:txBody>
      </p:sp>
    </p:spTree>
    <p:extLst>
      <p:ext uri="{BB962C8B-B14F-4D97-AF65-F5344CB8AC3E}">
        <p14:creationId xmlns:p14="http://schemas.microsoft.com/office/powerpoint/2010/main" val="500070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srcRect t="38" b="38"/>
          <a:stretch>
            <a:fillRect/>
          </a:stretch>
        </p:blipFill>
        <p:spPr>
          <a:xfrm>
            <a:off x="0" y="0"/>
            <a:ext cx="12192000" cy="7620000"/>
          </a:xfrm>
          <a:prstGeom prst="rect">
            <a:avLst/>
          </a:prstGeom>
        </p:spPr>
      </p:pic>
      <p:sp>
        <p:nvSpPr>
          <p:cNvPr id="2" name="Rectangle 1">
            <a:extLst>
              <a:ext uri="{FF2B5EF4-FFF2-40B4-BE49-F238E27FC236}">
                <a16:creationId xmlns:a16="http://schemas.microsoft.com/office/drawing/2014/main" id="{E7676A16-11A6-46E7-AFA7-7FBF3FD93031}"/>
              </a:ext>
            </a:extLst>
          </p:cNvPr>
          <p:cNvSpPr>
            <a:spLocks noGrp="1"/>
          </p:cNvSpPr>
          <p:nvPr/>
        </p:nvSpPr>
        <p:spPr>
          <a:xfrm>
            <a:off x="723900" y="571500"/>
            <a:ext cx="10668000" cy="333375"/>
          </a:xfrm>
          <a:prstGeom prst="rect">
            <a:avLst/>
          </a:prstGeom>
          <a:noFill/>
          <a:ln w="0">
            <a:noFill/>
          </a:ln>
        </p:spPr>
        <p:txBody>
          <a:bodyPr>
            <a:noAutofit/>
          </a:bodyPr>
          <a:lstStyle/>
          <a:p>
            <a:pPr>
              <a:defRPr sz="1275" b="1">
                <a:solidFill>
                  <a:srgbClr val="5A5A5A"/>
                </a:solidFill>
                <a:latin typeface="DejaVu Sans"/>
                <a:ea typeface="DejaVu Sans"/>
                <a:cs typeface="DejaVu Sans"/>
              </a:defRPr>
            </a:pPr>
            <a:r>
              <a:rPr sz="1275" b="1">
                <a:solidFill>
                  <a:srgbClr val="5A5A5A"/>
                </a:solidFill>
                <a:latin typeface="DejaVu Sans"/>
                <a:ea typeface="DejaVu Sans"/>
                <a:cs typeface="DejaVu Sans"/>
              </a:rPr>
              <a:t>2 / REQUIREMENTS    3 / SYSTEM DESIGN</a:t>
            </a:r>
          </a:p>
        </p:txBody>
      </p:sp>
      <p:sp>
        <p:nvSpPr>
          <p:cNvPr id="3" name="Rectangle 2">
            <a:extLst>
              <a:ext uri="{FF2B5EF4-FFF2-40B4-BE49-F238E27FC236}">
                <a16:creationId xmlns:a16="http://schemas.microsoft.com/office/drawing/2014/main" id="{8A34C419-406B-49E7-967E-2E9498D98568}"/>
              </a:ext>
            </a:extLst>
          </p:cNvPr>
          <p:cNvSpPr>
            <a:spLocks noGrp="1"/>
          </p:cNvSpPr>
          <p:nvPr/>
        </p:nvSpPr>
        <p:spPr>
          <a:xfrm>
            <a:off x="723900" y="1200150"/>
            <a:ext cx="10763250" cy="1190625"/>
          </a:xfrm>
          <a:prstGeom prst="rect">
            <a:avLst/>
          </a:prstGeom>
          <a:noFill/>
          <a:ln w="0">
            <a:noFill/>
          </a:ln>
        </p:spPr>
        <p:txBody>
          <a:bodyPr>
            <a:noAutofit/>
          </a:bodyPr>
          <a:lstStyle/>
          <a:p>
            <a:pPr>
              <a:defRPr sz="3300" b="1">
                <a:solidFill>
                  <a:srgbClr val="222222"/>
                </a:solidFill>
                <a:latin typeface="DejaVu Sans"/>
                <a:ea typeface="DejaVu Sans"/>
                <a:cs typeface="DejaVu Sans"/>
              </a:defRPr>
            </a:pPr>
            <a:r>
              <a:rPr sz="3300" b="1">
                <a:solidFill>
                  <a:srgbClr val="222222"/>
                </a:solidFill>
                <a:latin typeface="DejaVu Sans"/>
                <a:ea typeface="DejaVu Sans"/>
                <a:cs typeface="DejaVu Sans"/>
              </a:rPr>
              <a:t>Requirements &amp; system design</a:t>
            </a:r>
          </a:p>
        </p:txBody>
      </p:sp>
      <p:sp>
        <p:nvSpPr>
          <p:cNvPr id="4" name="Rectangle 3">
            <a:extLst>
              <a:ext uri="{FF2B5EF4-FFF2-40B4-BE49-F238E27FC236}">
                <a16:creationId xmlns:a16="http://schemas.microsoft.com/office/drawing/2014/main" id="{AA90D2B6-802C-402D-BBCF-29157499871E}"/>
              </a:ext>
            </a:extLst>
          </p:cNvPr>
          <p:cNvSpPr>
            <a:spLocks noGrp="1"/>
          </p:cNvSpPr>
          <p:nvPr/>
        </p:nvSpPr>
        <p:spPr>
          <a:xfrm>
            <a:off x="11029950" y="6991350"/>
            <a:ext cx="476250" cy="266700"/>
          </a:xfrm>
          <a:prstGeom prst="rect">
            <a:avLst/>
          </a:prstGeom>
          <a:noFill/>
          <a:ln w="0">
            <a:noFill/>
          </a:ln>
        </p:spPr>
        <p:txBody>
          <a:bodyPr>
            <a:noAutofit/>
          </a:bodyPr>
          <a:lstStyle/>
          <a:p>
            <a:pPr>
              <a:defRPr sz="1350" b="0">
                <a:solidFill>
                  <a:srgbClr val="666666"/>
                </a:solidFill>
                <a:latin typeface="DejaVu Sans"/>
                <a:ea typeface="DejaVu Sans"/>
                <a:cs typeface="DejaVu Sans"/>
              </a:defRPr>
            </a:pPr>
            <a:r>
              <a:rPr sz="1350" b="0">
                <a:solidFill>
                  <a:srgbClr val="666666"/>
                </a:solidFill>
                <a:latin typeface="DejaVu Sans"/>
                <a:ea typeface="DejaVu Sans"/>
                <a:cs typeface="DejaVu Sans"/>
              </a:rPr>
              <a:t>03</a:t>
            </a:r>
          </a:p>
        </p:txBody>
      </p:sp>
      <p:sp>
        <p:nvSpPr>
          <p:cNvPr id="5" name="Rectangle 4">
            <a:extLst>
              <a:ext uri="{FF2B5EF4-FFF2-40B4-BE49-F238E27FC236}">
                <a16:creationId xmlns:a16="http://schemas.microsoft.com/office/drawing/2014/main" id="{11B92CC8-11C1-4359-B2F6-96815F2B16C8}"/>
              </a:ext>
            </a:extLst>
          </p:cNvPr>
          <p:cNvSpPr>
            <a:spLocks noGrp="1"/>
          </p:cNvSpPr>
          <p:nvPr/>
        </p:nvSpPr>
        <p:spPr>
          <a:xfrm>
            <a:off x="723900" y="2714625"/>
            <a:ext cx="5048250" cy="495300"/>
          </a:xfrm>
          <a:prstGeom prst="rect">
            <a:avLst/>
          </a:prstGeom>
          <a:noFill/>
          <a:ln w="0">
            <a:noFill/>
          </a:ln>
        </p:spPr>
        <p:txBody>
          <a:bodyPr>
            <a:noAutofit/>
          </a:bodyPr>
          <a:lstStyle/>
          <a:p>
            <a:pPr>
              <a:defRPr sz="2250" b="1">
                <a:solidFill>
                  <a:srgbClr val="222222"/>
                </a:solidFill>
                <a:latin typeface="DejaVu Sans"/>
                <a:ea typeface="DejaVu Sans"/>
                <a:cs typeface="DejaVu Sans"/>
              </a:defRPr>
            </a:pPr>
            <a:r>
              <a:rPr sz="2250" b="1">
                <a:solidFill>
                  <a:srgbClr val="222222"/>
                </a:solidFill>
                <a:latin typeface="DejaVu Sans"/>
                <a:ea typeface="DejaVu Sans"/>
                <a:cs typeface="DejaVu Sans"/>
              </a:rPr>
              <a:t>Core requirements</a:t>
            </a:r>
          </a:p>
        </p:txBody>
      </p:sp>
      <p:sp>
        <p:nvSpPr>
          <p:cNvPr id="6" name="Rectangle 5">
            <a:extLst>
              <a:ext uri="{FF2B5EF4-FFF2-40B4-BE49-F238E27FC236}">
                <a16:creationId xmlns:a16="http://schemas.microsoft.com/office/drawing/2014/main" id="{8A7763E3-5D6B-46DF-9199-B91744E318FE}"/>
              </a:ext>
            </a:extLst>
          </p:cNvPr>
          <p:cNvSpPr>
            <a:spLocks noGrp="1"/>
          </p:cNvSpPr>
          <p:nvPr/>
        </p:nvSpPr>
        <p:spPr>
          <a:xfrm>
            <a:off x="723900" y="3438525"/>
            <a:ext cx="5238750" cy="2238375"/>
          </a:xfrm>
          <a:prstGeom prst="rect">
            <a:avLst/>
          </a:prstGeom>
          <a:noFill/>
          <a:ln w="0">
            <a:noFill/>
          </a:ln>
        </p:spPr>
        <p:txBody>
          <a:bodyPr>
            <a:noAutofit/>
          </a:bodyPr>
          <a:lstStyle/>
          <a:p>
            <a:pPr>
              <a:defRPr sz="2025" b="0">
                <a:solidFill>
                  <a:srgbClr val="222222"/>
                </a:solidFill>
                <a:latin typeface="DejaVu Sans"/>
                <a:ea typeface="DejaVu Sans"/>
                <a:cs typeface="DejaVu Sans"/>
              </a:defRPr>
            </a:pPr>
            <a:r>
              <a:rPr sz="2025" b="0">
                <a:solidFill>
                  <a:srgbClr val="222222"/>
                </a:solidFill>
                <a:latin typeface="DejaVu Sans"/>
                <a:ea typeface="DejaVu Sans"/>
                <a:cs typeface="DejaVu Sans"/>
              </a:rPr>
              <a:t>Time, weather and indoor conditions</a:t>
            </a:r>
          </a:p>
          <a:p>
            <a:pPr>
              <a:defRPr sz="2025" b="0">
                <a:solidFill>
                  <a:srgbClr val="222222"/>
                </a:solidFill>
                <a:latin typeface="DejaVu Sans"/>
                <a:ea typeface="DejaVu Sans"/>
                <a:cs typeface="DejaVu Sans"/>
              </a:defRPr>
            </a:pPr>
            <a:r>
              <a:rPr sz="2025" b="0">
                <a:solidFill>
                  <a:srgbClr val="222222"/>
                </a:solidFill>
                <a:latin typeface="DejaVu Sans"/>
                <a:ea typeface="DejaVu Sans"/>
                <a:cs typeface="DejaVu Sans"/>
              </a:rPr>
              <a:t>Calendar, tasks and habit reminders</a:t>
            </a:r>
          </a:p>
          <a:p>
            <a:pPr>
              <a:defRPr sz="2025" b="0">
                <a:solidFill>
                  <a:srgbClr val="222222"/>
                </a:solidFill>
                <a:latin typeface="DejaVu Sans"/>
                <a:ea typeface="DejaVu Sans"/>
                <a:cs typeface="DejaVu Sans"/>
              </a:defRPr>
            </a:pPr>
            <a:r>
              <a:rPr sz="2025" b="0">
                <a:solidFill>
                  <a:srgbClr val="222222"/>
                </a:solidFill>
                <a:latin typeface="DejaVu Sans"/>
                <a:ea typeface="DejaVu Sans"/>
                <a:cs typeface="DejaVu Sans"/>
              </a:rPr>
              <a:t>Wi-Fi and web configuration</a:t>
            </a:r>
          </a:p>
          <a:p>
            <a:pPr>
              <a:defRPr sz="2025" b="0">
                <a:solidFill>
                  <a:srgbClr val="222222"/>
                </a:solidFill>
                <a:latin typeface="DejaVu Sans"/>
                <a:ea typeface="DejaVu Sans"/>
                <a:cs typeface="DejaVu Sans"/>
              </a:defRPr>
            </a:pPr>
            <a:r>
              <a:rPr sz="2025" b="0">
                <a:solidFill>
                  <a:srgbClr val="222222"/>
                </a:solidFill>
                <a:latin typeface="DejaVu Sans"/>
                <a:ea typeface="DejaVu Sans"/>
                <a:cs typeface="DejaVu Sans"/>
              </a:rPr>
              <a:t>OTA updates and battery status</a:t>
            </a:r>
          </a:p>
        </p:txBody>
      </p:sp>
      <p:sp>
        <p:nvSpPr>
          <p:cNvPr id="7" name="Rectangle 6">
            <a:extLst>
              <a:ext uri="{FF2B5EF4-FFF2-40B4-BE49-F238E27FC236}">
                <a16:creationId xmlns:a16="http://schemas.microsoft.com/office/drawing/2014/main" id="{A5768BB1-7949-4220-9F00-FDCC98244E5C}"/>
              </a:ext>
            </a:extLst>
          </p:cNvPr>
          <p:cNvSpPr>
            <a:spLocks noGrp="1"/>
          </p:cNvSpPr>
          <p:nvPr/>
        </p:nvSpPr>
        <p:spPr>
          <a:xfrm>
            <a:off x="6724650" y="2714625"/>
            <a:ext cx="4810125" cy="495300"/>
          </a:xfrm>
          <a:prstGeom prst="rect">
            <a:avLst/>
          </a:prstGeom>
          <a:noFill/>
          <a:ln w="0">
            <a:noFill/>
          </a:ln>
        </p:spPr>
        <p:txBody>
          <a:bodyPr>
            <a:noAutofit/>
          </a:bodyPr>
          <a:lstStyle/>
          <a:p>
            <a:pPr>
              <a:defRPr sz="2250" b="1">
                <a:solidFill>
                  <a:srgbClr val="222222"/>
                </a:solidFill>
                <a:latin typeface="DejaVu Sans"/>
                <a:ea typeface="DejaVu Sans"/>
                <a:cs typeface="DejaVu Sans"/>
              </a:defRPr>
            </a:pPr>
            <a:r>
              <a:rPr sz="2250" b="1">
                <a:solidFill>
                  <a:srgbClr val="222222"/>
                </a:solidFill>
                <a:latin typeface="DejaVu Sans"/>
                <a:ea typeface="DejaVu Sans"/>
                <a:cs typeface="DejaVu Sans"/>
              </a:rPr>
              <a:t>System operation</a:t>
            </a:r>
          </a:p>
        </p:txBody>
      </p:sp>
      <p:sp>
        <p:nvSpPr>
          <p:cNvPr id="8" name="Rectangle 7">
            <a:extLst>
              <a:ext uri="{FF2B5EF4-FFF2-40B4-BE49-F238E27FC236}">
                <a16:creationId xmlns:a16="http://schemas.microsoft.com/office/drawing/2014/main" id="{1497DFBF-CAD9-487C-925B-1A94D53C700D}"/>
              </a:ext>
            </a:extLst>
          </p:cNvPr>
          <p:cNvSpPr>
            <a:spLocks noGrp="1"/>
          </p:cNvSpPr>
          <p:nvPr/>
        </p:nvSpPr>
        <p:spPr>
          <a:xfrm>
            <a:off x="6724650" y="3438525"/>
            <a:ext cx="4810125" cy="2238375"/>
          </a:xfrm>
          <a:prstGeom prst="rect">
            <a:avLst/>
          </a:prstGeom>
          <a:noFill/>
          <a:ln w="0">
            <a:noFill/>
          </a:ln>
        </p:spPr>
        <p:txBody>
          <a:bodyPr>
            <a:noAutofit/>
          </a:bodyPr>
          <a:lstStyle/>
          <a:p>
            <a:pPr>
              <a:defRPr sz="1950" b="0">
                <a:solidFill>
                  <a:srgbClr val="222222"/>
                </a:solidFill>
                <a:latin typeface="DejaVu Sans"/>
                <a:ea typeface="DejaVu Sans"/>
                <a:cs typeface="DejaVu Sans"/>
              </a:defRPr>
            </a:pPr>
            <a:r>
              <a:rPr sz="1950" b="0">
                <a:solidFill>
                  <a:srgbClr val="222222"/>
                </a:solidFill>
                <a:latin typeface="DejaVu Sans"/>
                <a:ea typeface="DejaVu Sans"/>
                <a:cs typeface="DejaVu Sans"/>
              </a:rPr>
              <a:t>01   Wake and read sensors</a:t>
            </a:r>
          </a:p>
          <a:p>
            <a:pPr>
              <a:defRPr sz="1950" b="0">
                <a:solidFill>
                  <a:srgbClr val="222222"/>
                </a:solidFill>
                <a:latin typeface="DejaVu Sans"/>
                <a:ea typeface="DejaVu Sans"/>
                <a:cs typeface="DejaVu Sans"/>
              </a:defRPr>
            </a:pPr>
            <a:r>
              <a:rPr sz="1950" b="0">
                <a:solidFill>
                  <a:srgbClr val="222222"/>
                </a:solidFill>
                <a:latin typeface="DejaVu Sans"/>
                <a:ea typeface="DejaVu Sans"/>
                <a:cs typeface="DejaVu Sans"/>
              </a:rPr>
              <a:t>02   Fetch data over HTTPS / JSON</a:t>
            </a:r>
          </a:p>
          <a:p>
            <a:pPr>
              <a:defRPr sz="1950" b="0">
                <a:solidFill>
                  <a:srgbClr val="222222"/>
                </a:solidFill>
                <a:latin typeface="DejaVu Sans"/>
                <a:ea typeface="DejaVu Sans"/>
                <a:cs typeface="DejaVu Sans"/>
              </a:defRPr>
            </a:pPr>
            <a:r>
              <a:rPr sz="1950" b="0">
                <a:solidFill>
                  <a:srgbClr val="222222"/>
                </a:solidFill>
                <a:latin typeface="DejaVu Sans"/>
                <a:ea typeface="DejaVu Sans"/>
                <a:cs typeface="DejaVu Sans"/>
              </a:rPr>
              <a:t>03   Refresh the E-Ink display</a:t>
            </a:r>
          </a:p>
          <a:p>
            <a:pPr>
              <a:defRPr sz="1950" b="0">
                <a:solidFill>
                  <a:srgbClr val="222222"/>
                </a:solidFill>
                <a:latin typeface="DejaVu Sans"/>
                <a:ea typeface="DejaVu Sans"/>
                <a:cs typeface="DejaVu Sans"/>
              </a:defRPr>
            </a:pPr>
            <a:r>
              <a:rPr sz="1950" b="0">
                <a:solidFill>
                  <a:srgbClr val="222222"/>
                </a:solidFill>
                <a:latin typeface="DejaVu Sans"/>
                <a:ea typeface="DejaVu Sans"/>
                <a:cs typeface="DejaVu Sans"/>
              </a:rPr>
              <a:t>04   Turn off Wi-Fi and sleep</a:t>
            </a:r>
          </a:p>
        </p:txBody>
      </p:sp>
      <p:sp>
        <p:nvSpPr>
          <p:cNvPr id="9" name="Rectangle 8">
            <a:extLst>
              <a:ext uri="{FF2B5EF4-FFF2-40B4-BE49-F238E27FC236}">
                <a16:creationId xmlns:a16="http://schemas.microsoft.com/office/drawing/2014/main" id="{EFA98372-E872-4FCE-BFF2-AA95FD02A077}"/>
              </a:ext>
            </a:extLst>
          </p:cNvPr>
          <p:cNvSpPr>
            <a:spLocks noGrp="1"/>
          </p:cNvSpPr>
          <p:nvPr/>
        </p:nvSpPr>
        <p:spPr>
          <a:xfrm>
            <a:off x="723900" y="6181725"/>
            <a:ext cx="10525125" cy="428625"/>
          </a:xfrm>
          <a:prstGeom prst="rect">
            <a:avLst/>
          </a:prstGeom>
          <a:noFill/>
          <a:ln w="0">
            <a:noFill/>
          </a:ln>
        </p:spPr>
        <p:txBody>
          <a:bodyPr>
            <a:noAutofit/>
          </a:bodyPr>
          <a:lstStyle/>
          <a:p>
            <a:pPr>
              <a:defRPr sz="1575" b="0">
                <a:solidFill>
                  <a:srgbClr val="555555"/>
                </a:solidFill>
                <a:latin typeface="DejaVu Sans"/>
                <a:ea typeface="DejaVu Sans"/>
                <a:cs typeface="DejaVu Sans"/>
              </a:defRPr>
            </a:pPr>
            <a:r>
              <a:rPr sz="1575" b="0">
                <a:solidFill>
                  <a:srgbClr val="555555"/>
                </a:solidFill>
                <a:latin typeface="DejaVu Sans"/>
                <a:ea typeface="DejaVu Sans"/>
                <a:cs typeface="DejaVu Sans"/>
              </a:rPr>
              <a:t>Optional: air quality and Spotify, with a backend for OAuth / artwork</a:t>
            </a:r>
          </a:p>
        </p:txBody>
      </p:sp>
    </p:spTree>
    <p:extLst>
      <p:ext uri="{BB962C8B-B14F-4D97-AF65-F5344CB8AC3E}">
        <p14:creationId xmlns:p14="http://schemas.microsoft.com/office/powerpoint/2010/main" val="2098139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srcRect t="38" b="38"/>
          <a:stretch>
            <a:fillRect/>
          </a:stretch>
        </p:blipFill>
        <p:spPr>
          <a:xfrm>
            <a:off x="0" y="0"/>
            <a:ext cx="12192000" cy="7620000"/>
          </a:xfrm>
          <a:prstGeom prst="rect">
            <a:avLst/>
          </a:prstGeom>
        </p:spPr>
      </p:pic>
      <p:sp>
        <p:nvSpPr>
          <p:cNvPr id="2" name="Rectangle 1">
            <a:extLst>
              <a:ext uri="{FF2B5EF4-FFF2-40B4-BE49-F238E27FC236}">
                <a16:creationId xmlns:a16="http://schemas.microsoft.com/office/drawing/2014/main" id="{6CA45067-4174-43E1-B191-10E71BF560CB}"/>
              </a:ext>
            </a:extLst>
          </p:cNvPr>
          <p:cNvSpPr>
            <a:spLocks noGrp="1"/>
          </p:cNvSpPr>
          <p:nvPr/>
        </p:nvSpPr>
        <p:spPr>
          <a:xfrm>
            <a:off x="723900" y="571500"/>
            <a:ext cx="10668000" cy="333375"/>
          </a:xfrm>
          <a:prstGeom prst="rect">
            <a:avLst/>
          </a:prstGeom>
          <a:noFill/>
          <a:ln w="0">
            <a:noFill/>
          </a:ln>
        </p:spPr>
        <p:txBody>
          <a:bodyPr>
            <a:noAutofit/>
          </a:bodyPr>
          <a:lstStyle/>
          <a:p>
            <a:pPr>
              <a:defRPr sz="1275" b="1">
                <a:solidFill>
                  <a:srgbClr val="5A5A5A"/>
                </a:solidFill>
                <a:latin typeface="DejaVu Sans"/>
                <a:ea typeface="DejaVu Sans"/>
                <a:cs typeface="DejaVu Sans"/>
              </a:defRPr>
            </a:pPr>
            <a:r>
              <a:rPr sz="1275" b="1">
                <a:solidFill>
                  <a:srgbClr val="5A5A5A"/>
                </a:solidFill>
                <a:latin typeface="DejaVu Sans"/>
                <a:ea typeface="DejaVu Sans"/>
                <a:cs typeface="DejaVu Sans"/>
              </a:rPr>
              <a:t>4 / HARDWARE &amp; SOFTWARE    5 / UI / INTERACTION</a:t>
            </a:r>
          </a:p>
        </p:txBody>
      </p:sp>
      <p:sp>
        <p:nvSpPr>
          <p:cNvPr id="3" name="Rectangle 2">
            <a:extLst>
              <a:ext uri="{FF2B5EF4-FFF2-40B4-BE49-F238E27FC236}">
                <a16:creationId xmlns:a16="http://schemas.microsoft.com/office/drawing/2014/main" id="{7E079822-5172-4292-B985-C3AE734346A6}"/>
              </a:ext>
            </a:extLst>
          </p:cNvPr>
          <p:cNvSpPr>
            <a:spLocks noGrp="1"/>
          </p:cNvSpPr>
          <p:nvPr/>
        </p:nvSpPr>
        <p:spPr>
          <a:xfrm>
            <a:off x="723900" y="1200150"/>
            <a:ext cx="10763250" cy="1190625"/>
          </a:xfrm>
          <a:prstGeom prst="rect">
            <a:avLst/>
          </a:prstGeom>
          <a:noFill/>
          <a:ln w="0">
            <a:noFill/>
          </a:ln>
        </p:spPr>
        <p:txBody>
          <a:bodyPr>
            <a:noAutofit/>
          </a:bodyPr>
          <a:lstStyle/>
          <a:p>
            <a:pPr>
              <a:defRPr sz="3300" b="1">
                <a:solidFill>
                  <a:srgbClr val="222222"/>
                </a:solidFill>
                <a:latin typeface="DejaVu Sans"/>
                <a:ea typeface="DejaVu Sans"/>
                <a:cs typeface="DejaVu Sans"/>
              </a:defRPr>
            </a:pPr>
            <a:r>
              <a:rPr sz="3300" b="1">
                <a:solidFill>
                  <a:srgbClr val="222222"/>
                </a:solidFill>
                <a:latin typeface="DejaVu Sans"/>
                <a:ea typeface="DejaVu Sans"/>
                <a:cs typeface="DejaVu Sans"/>
              </a:rPr>
              <a:t>Hardware &amp; user interaction</a:t>
            </a:r>
          </a:p>
        </p:txBody>
      </p:sp>
      <p:sp>
        <p:nvSpPr>
          <p:cNvPr id="4" name="Rectangle 3">
            <a:extLst>
              <a:ext uri="{FF2B5EF4-FFF2-40B4-BE49-F238E27FC236}">
                <a16:creationId xmlns:a16="http://schemas.microsoft.com/office/drawing/2014/main" id="{9F3AE898-2A36-4AAF-BE96-EEF3D6BBDDDF}"/>
              </a:ext>
            </a:extLst>
          </p:cNvPr>
          <p:cNvSpPr>
            <a:spLocks noGrp="1"/>
          </p:cNvSpPr>
          <p:nvPr/>
        </p:nvSpPr>
        <p:spPr>
          <a:xfrm>
            <a:off x="11029950" y="6991350"/>
            <a:ext cx="476250" cy="266700"/>
          </a:xfrm>
          <a:prstGeom prst="rect">
            <a:avLst/>
          </a:prstGeom>
          <a:noFill/>
          <a:ln w="0">
            <a:noFill/>
          </a:ln>
        </p:spPr>
        <p:txBody>
          <a:bodyPr>
            <a:noAutofit/>
          </a:bodyPr>
          <a:lstStyle/>
          <a:p>
            <a:pPr>
              <a:defRPr sz="1350" b="0">
                <a:solidFill>
                  <a:srgbClr val="666666"/>
                </a:solidFill>
                <a:latin typeface="DejaVu Sans"/>
                <a:ea typeface="DejaVu Sans"/>
                <a:cs typeface="DejaVu Sans"/>
              </a:defRPr>
            </a:pPr>
            <a:r>
              <a:rPr sz="1350" b="0">
                <a:solidFill>
                  <a:srgbClr val="666666"/>
                </a:solidFill>
                <a:latin typeface="DejaVu Sans"/>
                <a:ea typeface="DejaVu Sans"/>
                <a:cs typeface="DejaVu Sans"/>
              </a:rPr>
              <a:t>04</a:t>
            </a:r>
          </a:p>
        </p:txBody>
      </p:sp>
      <p:sp>
        <p:nvSpPr>
          <p:cNvPr id="5" name="Rectangle 4">
            <a:extLst>
              <a:ext uri="{FF2B5EF4-FFF2-40B4-BE49-F238E27FC236}">
                <a16:creationId xmlns:a16="http://schemas.microsoft.com/office/drawing/2014/main" id="{64C06BB1-0643-447E-8721-A43A0191A654}"/>
              </a:ext>
            </a:extLst>
          </p:cNvPr>
          <p:cNvSpPr>
            <a:spLocks noGrp="1"/>
          </p:cNvSpPr>
          <p:nvPr/>
        </p:nvSpPr>
        <p:spPr>
          <a:xfrm>
            <a:off x="723900" y="2714625"/>
            <a:ext cx="5143500" cy="495300"/>
          </a:xfrm>
          <a:prstGeom prst="rect">
            <a:avLst/>
          </a:prstGeom>
          <a:noFill/>
          <a:ln w="0">
            <a:noFill/>
          </a:ln>
        </p:spPr>
        <p:txBody>
          <a:bodyPr>
            <a:noAutofit/>
          </a:bodyPr>
          <a:lstStyle/>
          <a:p>
            <a:pPr>
              <a:defRPr sz="2250" b="1">
                <a:solidFill>
                  <a:srgbClr val="222222"/>
                </a:solidFill>
                <a:latin typeface="DejaVu Sans"/>
                <a:ea typeface="DejaVu Sans"/>
                <a:cs typeface="DejaVu Sans"/>
              </a:defRPr>
            </a:pPr>
            <a:r>
              <a:rPr sz="2250" b="1">
                <a:solidFill>
                  <a:srgbClr val="222222"/>
                </a:solidFill>
                <a:latin typeface="DejaVu Sans"/>
                <a:ea typeface="DejaVu Sans"/>
                <a:cs typeface="DejaVu Sans"/>
              </a:rPr>
              <a:t>Proposed build</a:t>
            </a:r>
          </a:p>
        </p:txBody>
      </p:sp>
      <p:sp>
        <p:nvSpPr>
          <p:cNvPr id="6" name="Rectangle 5">
            <a:extLst>
              <a:ext uri="{FF2B5EF4-FFF2-40B4-BE49-F238E27FC236}">
                <a16:creationId xmlns:a16="http://schemas.microsoft.com/office/drawing/2014/main" id="{D349EB23-3494-458C-8A12-DF6030A008C2}"/>
              </a:ext>
            </a:extLst>
          </p:cNvPr>
          <p:cNvSpPr>
            <a:spLocks noGrp="1"/>
          </p:cNvSpPr>
          <p:nvPr/>
        </p:nvSpPr>
        <p:spPr>
          <a:xfrm>
            <a:off x="723900" y="3438525"/>
            <a:ext cx="5238750" cy="2286000"/>
          </a:xfrm>
          <a:prstGeom prst="rect">
            <a:avLst/>
          </a:prstGeom>
          <a:noFill/>
          <a:ln w="0">
            <a:noFill/>
          </a:ln>
        </p:spPr>
        <p:txBody>
          <a:bodyPr>
            <a:noAutofit/>
          </a:bodyPr>
          <a:lstStyle/>
          <a:p>
            <a:pPr>
              <a:defRPr sz="1950" b="0">
                <a:solidFill>
                  <a:srgbClr val="222222"/>
                </a:solidFill>
                <a:latin typeface="DejaVu Sans"/>
                <a:ea typeface="DejaVu Sans"/>
                <a:cs typeface="DejaVu Sans"/>
              </a:defRPr>
            </a:pPr>
            <a:r>
              <a:rPr sz="1950" b="0">
                <a:solidFill>
                  <a:srgbClr val="222222"/>
                </a:solidFill>
                <a:latin typeface="DejaVu Sans"/>
                <a:ea typeface="DejaVu Sans"/>
                <a:cs typeface="DejaVu Sans"/>
              </a:rPr>
              <a:t>ESP32 and monochrome E-Ink</a:t>
            </a:r>
          </a:p>
          <a:p>
            <a:pPr>
              <a:defRPr sz="1950" b="0">
                <a:solidFill>
                  <a:srgbClr val="222222"/>
                </a:solidFill>
                <a:latin typeface="DejaVu Sans"/>
                <a:ea typeface="DejaVu Sans"/>
                <a:cs typeface="DejaVu Sans"/>
              </a:defRPr>
            </a:pPr>
            <a:r>
              <a:rPr sz="1950" b="0">
                <a:solidFill>
                  <a:srgbClr val="222222"/>
                </a:solidFill>
                <a:latin typeface="DejaVu Sans"/>
                <a:ea typeface="DejaVu Sans"/>
                <a:cs typeface="DejaVu Sans"/>
              </a:rPr>
              <a:t>Temperature / humidity sensor</a:t>
            </a:r>
          </a:p>
          <a:p>
            <a:pPr>
              <a:defRPr sz="1950" b="0">
                <a:solidFill>
                  <a:srgbClr val="222222"/>
                </a:solidFill>
                <a:latin typeface="DejaVu Sans"/>
                <a:ea typeface="DejaVu Sans"/>
                <a:cs typeface="DejaVu Sans"/>
              </a:defRPr>
            </a:pPr>
            <a:r>
              <a:rPr sz="1950" b="0">
                <a:solidFill>
                  <a:srgbClr val="222222"/>
                </a:solidFill>
                <a:latin typeface="DejaVu Sans"/>
                <a:ea typeface="DejaVu Sans"/>
                <a:cs typeface="DejaVu Sans"/>
              </a:rPr>
              <a:t>Li-Po battery and printed enclosure</a:t>
            </a:r>
          </a:p>
          <a:p>
            <a:pPr>
              <a:defRPr sz="1950" b="0">
                <a:solidFill>
                  <a:srgbClr val="222222"/>
                </a:solidFill>
                <a:latin typeface="DejaVu Sans"/>
                <a:ea typeface="DejaVu Sans"/>
                <a:cs typeface="DejaVu Sans"/>
              </a:defRPr>
            </a:pPr>
            <a:r>
              <a:rPr sz="1950" b="0">
                <a:solidFill>
                  <a:srgbClr val="222222"/>
                </a:solidFill>
                <a:latin typeface="DejaVu Sans"/>
                <a:ea typeface="DejaVu Sans"/>
                <a:cs typeface="DejaVu Sans"/>
              </a:rPr>
              <a:t>Arduino or ESP-IDF firmware</a:t>
            </a:r>
          </a:p>
          <a:p>
            <a:pPr>
              <a:defRPr sz="1950" b="0">
                <a:solidFill>
                  <a:srgbClr val="222222"/>
                </a:solidFill>
                <a:latin typeface="DejaVu Sans"/>
                <a:ea typeface="DejaVu Sans"/>
                <a:cs typeface="DejaVu Sans"/>
              </a:defRPr>
            </a:pPr>
            <a:r>
              <a:rPr sz="1950" b="0">
                <a:solidFill>
                  <a:srgbClr val="222222"/>
                </a:solidFill>
                <a:latin typeface="DejaVu Sans"/>
                <a:ea typeface="DejaVu Sans"/>
                <a:cs typeface="DejaVu Sans"/>
              </a:rPr>
              <a:t>GxEPD2 and Adafruit GFX</a:t>
            </a:r>
          </a:p>
        </p:txBody>
      </p:sp>
      <p:sp>
        <p:nvSpPr>
          <p:cNvPr id="7" name="Rectangle 6">
            <a:extLst>
              <a:ext uri="{FF2B5EF4-FFF2-40B4-BE49-F238E27FC236}">
                <a16:creationId xmlns:a16="http://schemas.microsoft.com/office/drawing/2014/main" id="{FC9526AC-188E-4C17-9478-F112197E3C37}"/>
              </a:ext>
            </a:extLst>
          </p:cNvPr>
          <p:cNvSpPr>
            <a:spLocks noGrp="1"/>
          </p:cNvSpPr>
          <p:nvPr/>
        </p:nvSpPr>
        <p:spPr>
          <a:xfrm>
            <a:off x="6724650" y="2714625"/>
            <a:ext cx="4762500" cy="495300"/>
          </a:xfrm>
          <a:prstGeom prst="rect">
            <a:avLst/>
          </a:prstGeom>
          <a:noFill/>
          <a:ln w="0">
            <a:noFill/>
          </a:ln>
        </p:spPr>
        <p:txBody>
          <a:bodyPr>
            <a:noAutofit/>
          </a:bodyPr>
          <a:lstStyle/>
          <a:p>
            <a:pPr>
              <a:defRPr sz="2250" b="1">
                <a:solidFill>
                  <a:srgbClr val="222222"/>
                </a:solidFill>
                <a:latin typeface="DejaVu Sans"/>
                <a:ea typeface="DejaVu Sans"/>
                <a:cs typeface="DejaVu Sans"/>
              </a:defRPr>
            </a:pPr>
            <a:r>
              <a:rPr sz="2250" b="1">
                <a:solidFill>
                  <a:srgbClr val="222222"/>
                </a:solidFill>
                <a:latin typeface="DejaVu Sans"/>
                <a:ea typeface="DejaVu Sans"/>
                <a:cs typeface="DejaVu Sans"/>
              </a:rPr>
              <a:t>Simple interaction</a:t>
            </a:r>
          </a:p>
        </p:txBody>
      </p:sp>
      <p:sp>
        <p:nvSpPr>
          <p:cNvPr id="8" name="Rectangle 7">
            <a:extLst>
              <a:ext uri="{FF2B5EF4-FFF2-40B4-BE49-F238E27FC236}">
                <a16:creationId xmlns:a16="http://schemas.microsoft.com/office/drawing/2014/main" id="{9BFECDEE-0946-4FEB-B42B-5DC09105A661}"/>
              </a:ext>
            </a:extLst>
          </p:cNvPr>
          <p:cNvSpPr>
            <a:spLocks noGrp="1"/>
          </p:cNvSpPr>
          <p:nvPr/>
        </p:nvSpPr>
        <p:spPr>
          <a:xfrm>
            <a:off x="6724650" y="3438525"/>
            <a:ext cx="4810125" cy="2286000"/>
          </a:xfrm>
          <a:prstGeom prst="rect">
            <a:avLst/>
          </a:prstGeom>
          <a:noFill/>
          <a:ln w="0">
            <a:noFill/>
          </a:ln>
        </p:spPr>
        <p:txBody>
          <a:bodyPr>
            <a:noAutofit/>
          </a:bodyPr>
          <a:lstStyle/>
          <a:p>
            <a:pPr>
              <a:defRPr sz="1950" b="0">
                <a:solidFill>
                  <a:srgbClr val="222222"/>
                </a:solidFill>
                <a:latin typeface="DejaVu Sans"/>
                <a:ea typeface="DejaVu Sans"/>
                <a:cs typeface="DejaVu Sans"/>
              </a:defRPr>
            </a:pPr>
            <a:r>
              <a:rPr sz="1950" b="0">
                <a:solidFill>
                  <a:srgbClr val="222222"/>
                </a:solidFill>
                <a:latin typeface="DejaVu Sans"/>
                <a:ea typeface="DejaVu Sans"/>
                <a:cs typeface="DejaVu Sans"/>
              </a:rPr>
              <a:t>Header: time, date and status</a:t>
            </a:r>
          </a:p>
          <a:p>
            <a:pPr>
              <a:defRPr sz="1950" b="0">
                <a:solidFill>
                  <a:srgbClr val="222222"/>
                </a:solidFill>
                <a:latin typeface="DejaVu Sans"/>
                <a:ea typeface="DejaVu Sans"/>
                <a:cs typeface="DejaVu Sans"/>
              </a:defRPr>
            </a:pPr>
            <a:r>
              <a:rPr sz="1950" b="0">
                <a:solidFill>
                  <a:srgbClr val="222222"/>
                </a:solidFill>
                <a:latin typeface="DejaVu Sans"/>
                <a:ea typeface="DejaVu Sans"/>
                <a:cs typeface="DejaVu Sans"/>
              </a:rPr>
              <a:t>Main area: selected mode</a:t>
            </a:r>
          </a:p>
          <a:p>
            <a:pPr>
              <a:defRPr sz="1950" b="0">
                <a:solidFill>
                  <a:srgbClr val="222222"/>
                </a:solidFill>
                <a:latin typeface="DejaVu Sans"/>
                <a:ea typeface="DejaVu Sans"/>
                <a:cs typeface="DejaVu Sans"/>
              </a:defRPr>
            </a:pPr>
            <a:r>
              <a:rPr sz="1950" b="0">
                <a:solidFill>
                  <a:srgbClr val="222222"/>
                </a:solidFill>
                <a:latin typeface="DejaVu Sans"/>
                <a:ea typeface="DejaVu Sans"/>
                <a:cs typeface="DejaVu Sans"/>
              </a:rPr>
              <a:t>Footer: next event or hint</a:t>
            </a:r>
          </a:p>
          <a:p>
            <a:pPr>
              <a:defRPr sz="1950" b="0">
                <a:solidFill>
                  <a:srgbClr val="222222"/>
                </a:solidFill>
                <a:latin typeface="DejaVu Sans"/>
                <a:ea typeface="DejaVu Sans"/>
                <a:cs typeface="DejaVu Sans"/>
              </a:defRPr>
            </a:pPr>
            <a:r>
              <a:rPr sz="1950" b="0">
                <a:solidFill>
                  <a:srgbClr val="222222"/>
                </a:solidFill>
                <a:latin typeface="DejaVu Sans"/>
                <a:ea typeface="DejaVu Sans"/>
                <a:cs typeface="DejaVu Sans"/>
              </a:rPr>
              <a:t>Rotate: mode   Press: refresh</a:t>
            </a:r>
          </a:p>
          <a:p>
            <a:pPr>
              <a:defRPr sz="1950" b="0">
                <a:solidFill>
                  <a:srgbClr val="222222"/>
                </a:solidFill>
                <a:latin typeface="DejaVu Sans"/>
                <a:ea typeface="DejaVu Sans"/>
                <a:cs typeface="DejaVu Sans"/>
              </a:defRPr>
            </a:pPr>
            <a:r>
              <a:rPr sz="1950" b="0">
                <a:solidFill>
                  <a:srgbClr val="222222"/>
                </a:solidFill>
                <a:latin typeface="DejaVu Sans"/>
                <a:ea typeface="DejaVu Sans"/>
                <a:cs typeface="DejaVu Sans"/>
              </a:rPr>
              <a:t>Long press: configuration</a:t>
            </a:r>
          </a:p>
        </p:txBody>
      </p:sp>
      <p:sp>
        <p:nvSpPr>
          <p:cNvPr id="9" name="Rectangle 8">
            <a:extLst>
              <a:ext uri="{FF2B5EF4-FFF2-40B4-BE49-F238E27FC236}">
                <a16:creationId xmlns:a16="http://schemas.microsoft.com/office/drawing/2014/main" id="{1F5FF6D3-1DA0-4C85-94B9-491BA040D6D0}"/>
              </a:ext>
            </a:extLst>
          </p:cNvPr>
          <p:cNvSpPr>
            <a:spLocks noGrp="1"/>
          </p:cNvSpPr>
          <p:nvPr/>
        </p:nvSpPr>
        <p:spPr>
          <a:xfrm>
            <a:off x="723900" y="6334125"/>
            <a:ext cx="10525125" cy="400050"/>
          </a:xfrm>
          <a:prstGeom prst="rect">
            <a:avLst/>
          </a:prstGeom>
          <a:noFill/>
          <a:ln w="0">
            <a:noFill/>
          </a:ln>
        </p:spPr>
        <p:txBody>
          <a:bodyPr>
            <a:noAutofit/>
          </a:bodyPr>
          <a:lstStyle/>
          <a:p>
            <a:pPr>
              <a:defRPr sz="1575" b="0">
                <a:solidFill>
                  <a:srgbClr val="555555"/>
                </a:solidFill>
                <a:latin typeface="DejaVu Sans"/>
                <a:ea typeface="DejaVu Sans"/>
                <a:cs typeface="DejaVu Sans"/>
              </a:defRPr>
            </a:pPr>
            <a:r>
              <a:rPr sz="1575" b="0">
                <a:solidFill>
                  <a:srgbClr val="555555"/>
                </a:solidFill>
                <a:latin typeface="DejaVu Sans"/>
                <a:ea typeface="DejaVu Sans"/>
                <a:cs typeface="DejaVu Sans"/>
              </a:rPr>
              <a:t>To confirm: controller, display size and compatible display driver</a:t>
            </a:r>
          </a:p>
        </p:txBody>
      </p:sp>
    </p:spTree>
    <p:extLst>
      <p:ext uri="{BB962C8B-B14F-4D97-AF65-F5344CB8AC3E}">
        <p14:creationId xmlns:p14="http://schemas.microsoft.com/office/powerpoint/2010/main" val="913166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38" b="38"/>
          <a:stretch>
            <a:fillRect/>
          </a:stretch>
        </p:blipFill>
        <p:spPr>
          <a:xfrm>
            <a:off x="0" y="0"/>
            <a:ext cx="12192000" cy="7620000"/>
          </a:xfrm>
          <a:prstGeom prst="rect">
            <a:avLst/>
          </a:prstGeom>
        </p:spPr>
      </p:pic>
      <p:sp>
        <p:nvSpPr>
          <p:cNvPr id="2" name="Rectangle 1">
            <a:extLst>
              <a:ext uri="{FF2B5EF4-FFF2-40B4-BE49-F238E27FC236}">
                <a16:creationId xmlns:a16="http://schemas.microsoft.com/office/drawing/2014/main" id="{86E6D094-AD73-4CEC-ADA3-6B28DF9FD3A9}"/>
              </a:ext>
            </a:extLst>
          </p:cNvPr>
          <p:cNvSpPr>
            <a:spLocks noGrp="1"/>
          </p:cNvSpPr>
          <p:nvPr/>
        </p:nvSpPr>
        <p:spPr>
          <a:xfrm>
            <a:off x="4556760" y="2526030"/>
            <a:ext cx="3357880" cy="552450"/>
          </a:xfrm>
          <a:prstGeom prst="rect">
            <a:avLst/>
          </a:prstGeom>
          <a:noFill/>
          <a:ln w="0">
            <a:noFill/>
          </a:ln>
        </p:spPr>
        <p:txBody>
          <a:bodyPr>
            <a:noAutofit/>
          </a:bodyPr>
          <a:lstStyle/>
          <a:p>
            <a:pPr>
              <a:defRPr sz="1275" b="1">
                <a:solidFill>
                  <a:srgbClr val="5A5A5A"/>
                </a:solidFill>
                <a:latin typeface="DejaVu Sans"/>
                <a:ea typeface="DejaVu Sans"/>
                <a:cs typeface="DejaVu Sans"/>
              </a:defRPr>
            </a:pPr>
            <a:r>
              <a:rPr sz="3600" b="1" dirty="0">
                <a:solidFill>
                  <a:srgbClr val="5A5A5A"/>
                </a:solidFill>
                <a:latin typeface="DejaVu Sans"/>
                <a:ea typeface="DejaVu Sans"/>
                <a:cs typeface="DejaVu Sans"/>
              </a:rPr>
              <a:t>THANK YOU</a:t>
            </a:r>
          </a:p>
        </p:txBody>
      </p:sp>
      <p:sp>
        <p:nvSpPr>
          <p:cNvPr id="4" name="Rectangle 3">
            <a:extLst>
              <a:ext uri="{FF2B5EF4-FFF2-40B4-BE49-F238E27FC236}">
                <a16:creationId xmlns:a16="http://schemas.microsoft.com/office/drawing/2014/main" id="{F6BBFFA3-D0F9-406F-B986-316E157357F1}"/>
              </a:ext>
            </a:extLst>
          </p:cNvPr>
          <p:cNvSpPr>
            <a:spLocks noGrp="1"/>
          </p:cNvSpPr>
          <p:nvPr/>
        </p:nvSpPr>
        <p:spPr>
          <a:xfrm>
            <a:off x="11029950" y="6991350"/>
            <a:ext cx="476250" cy="266700"/>
          </a:xfrm>
          <a:prstGeom prst="rect">
            <a:avLst/>
          </a:prstGeom>
          <a:noFill/>
          <a:ln w="0">
            <a:noFill/>
          </a:ln>
        </p:spPr>
        <p:txBody>
          <a:bodyPr>
            <a:noAutofit/>
          </a:bodyPr>
          <a:lstStyle/>
          <a:p>
            <a:pPr>
              <a:defRPr sz="1350" b="0">
                <a:solidFill>
                  <a:srgbClr val="666666"/>
                </a:solidFill>
                <a:latin typeface="DejaVu Sans"/>
                <a:ea typeface="DejaVu Sans"/>
                <a:cs typeface="DejaVu Sans"/>
              </a:defRPr>
            </a:pPr>
            <a:r>
              <a:rPr sz="1350" b="0">
                <a:solidFill>
                  <a:srgbClr val="666666"/>
                </a:solidFill>
                <a:latin typeface="DejaVu Sans"/>
                <a:ea typeface="DejaVu Sans"/>
                <a:cs typeface="DejaVu Sans"/>
              </a:rPr>
              <a:t>05</a:t>
            </a:r>
          </a:p>
        </p:txBody>
      </p:sp>
      <p:sp>
        <p:nvSpPr>
          <p:cNvPr id="7" name="Rectangle 6">
            <a:extLst>
              <a:ext uri="{FF2B5EF4-FFF2-40B4-BE49-F238E27FC236}">
                <a16:creationId xmlns:a16="http://schemas.microsoft.com/office/drawing/2014/main" id="{FCBFAF22-12CD-4CCB-BF57-467512FE8484}"/>
              </a:ext>
            </a:extLst>
          </p:cNvPr>
          <p:cNvSpPr>
            <a:spLocks noGrp="1"/>
          </p:cNvSpPr>
          <p:nvPr/>
        </p:nvSpPr>
        <p:spPr>
          <a:xfrm>
            <a:off x="5039360" y="4145280"/>
            <a:ext cx="2987040" cy="1036320"/>
          </a:xfrm>
          <a:prstGeom prst="rect">
            <a:avLst/>
          </a:prstGeom>
          <a:noFill/>
          <a:ln w="0">
            <a:noFill/>
          </a:ln>
        </p:spPr>
        <p:txBody>
          <a:bodyPr>
            <a:noAutofit/>
          </a:bodyPr>
          <a:lstStyle/>
          <a:p>
            <a:pPr>
              <a:defRPr sz="2475" b="1">
                <a:solidFill>
                  <a:srgbClr val="222222"/>
                </a:solidFill>
                <a:latin typeface="DejaVu Sans"/>
                <a:ea typeface="DejaVu Sans"/>
                <a:cs typeface="DejaVu Sans"/>
              </a:defRPr>
            </a:pPr>
            <a:r>
              <a:rPr sz="2475" b="1" dirty="0">
                <a:solidFill>
                  <a:srgbClr val="222222"/>
                </a:solidFill>
                <a:latin typeface="DejaVu Sans"/>
                <a:ea typeface="DejaVu Sans"/>
                <a:cs typeface="DejaVu Sans"/>
              </a:rPr>
              <a:t>Questions?</a:t>
            </a:r>
          </a:p>
        </p:txBody>
      </p:sp>
    </p:spTree>
    <p:extLst>
      <p:ext uri="{BB962C8B-B14F-4D97-AF65-F5344CB8AC3E}">
        <p14:creationId xmlns:p14="http://schemas.microsoft.com/office/powerpoint/2010/main" val="9708482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849</Words>
  <Application>Microsoft Office PowerPoint</Application>
  <DocSecurity>0</DocSecurity>
  <PresentationFormat>Custom</PresentationFormat>
  <Paragraphs>68</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Aptos</vt:lpstr>
      <vt:lpstr>DejaVu Sans</vt:lpstr>
      <vt:lpstr>ChatGPT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Hossam x Ragab</cp:lastModifiedBy>
  <cp:revision>1</cp:revision>
  <dcterms:created xsi:type="dcterms:W3CDTF">2026-10-03T21:07:31Z</dcterms:created>
  <dcterms:modified xsi:type="dcterms:W3CDTF">2026-10-03T21:14:58Z</dcterms:modified>
</cp:coreProperties>
</file>